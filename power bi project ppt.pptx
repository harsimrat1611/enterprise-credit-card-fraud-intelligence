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to Serif Bold" charset="1" panose="02020800060500020200"/>
      <p:regular r:id="rId19"/>
    </p:embeddedFont>
    <p:embeddedFont>
      <p:font typeface="Noto Serif" charset="1" panose="020206000605000202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368153"/>
            <a:ext cx="9445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Enterprise Credit Card Fraud Intelligence &amp; Risk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384597"/>
            <a:ext cx="10359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45-Day Industrial Training Report · Microsoft Power BI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6242895"/>
            <a:ext cx="3553720" cy="430711"/>
            <a:chOff x="0" y="0"/>
            <a:chExt cx="4738294" cy="574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38243" cy="574294"/>
            </a:xfrm>
            <a:custGeom>
              <a:avLst/>
              <a:gdLst/>
              <a:ahLst/>
              <a:cxnLst/>
              <a:rect r="r" b="b" t="t" l="l"/>
              <a:pathLst>
                <a:path h="574294" w="473824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692904" y="0"/>
                  </a:lnTo>
                  <a:cubicBezTo>
                    <a:pt x="4717923" y="0"/>
                    <a:pt x="4738243" y="20320"/>
                    <a:pt x="4738243" y="45339"/>
                  </a:cubicBezTo>
                  <a:lnTo>
                    <a:pt x="4738243" y="528955"/>
                  </a:lnTo>
                  <a:cubicBezTo>
                    <a:pt x="4738243" y="553974"/>
                    <a:pt x="4717923" y="574294"/>
                    <a:pt x="4692904" y="574294"/>
                  </a:cubicBezTo>
                  <a:lnTo>
                    <a:pt x="45339" y="574294"/>
                  </a:lnTo>
                  <a:cubicBezTo>
                    <a:pt x="20320" y="574294"/>
                    <a:pt x="0" y="553974"/>
                    <a:pt x="0" y="528955"/>
                  </a:cubicBezTo>
                  <a:close/>
                </a:path>
              </a:pathLst>
            </a:custGeom>
            <a:solidFill>
              <a:srgbClr val="37201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0345" y="6337402"/>
            <a:ext cx="4127897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HARSIMRAT KAUR · 23303120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40881" y="6238132"/>
            <a:ext cx="3658638" cy="440236"/>
            <a:chOff x="0" y="0"/>
            <a:chExt cx="4878184" cy="5869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78197" cy="586994"/>
            </a:xfrm>
            <a:custGeom>
              <a:avLst/>
              <a:gdLst/>
              <a:ahLst/>
              <a:cxnLst/>
              <a:rect r="r" b="b" t="t" l="l"/>
              <a:pathLst>
                <a:path h="586994" w="487819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831842" y="0"/>
                  </a:lnTo>
                  <a:cubicBezTo>
                    <a:pt x="4857496" y="0"/>
                    <a:pt x="4878197" y="20701"/>
                    <a:pt x="4878197" y="46355"/>
                  </a:cubicBezTo>
                  <a:lnTo>
                    <a:pt x="4878197" y="540639"/>
                  </a:lnTo>
                  <a:cubicBezTo>
                    <a:pt x="4878197" y="566293"/>
                    <a:pt x="4857496" y="586994"/>
                    <a:pt x="4831842" y="586994"/>
                  </a:cubicBezTo>
                  <a:lnTo>
                    <a:pt x="46355" y="586994"/>
                  </a:lnTo>
                  <a:cubicBezTo>
                    <a:pt x="20701" y="586994"/>
                    <a:pt x="0" y="566166"/>
                    <a:pt x="0" y="54063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930" r="0" b="-111928"/>
              </a:stretch>
            </a:blipFill>
            <a:ln w="9526" cap="sq">
              <a:solidFill>
                <a:srgbClr val="E2C2B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715750" y="6337402"/>
            <a:ext cx="4223299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E2C2B3"/>
                </a:solidFill>
                <a:latin typeface="Noto Serif"/>
                <a:ea typeface="Noto Serif"/>
                <a:cs typeface="Noto Serif"/>
                <a:sym typeface="Noto Serif"/>
              </a:rPr>
              <a:t>WHITE HAT CODERS, MOHALI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331678" y="6238132"/>
            <a:ext cx="1473098" cy="440236"/>
            <a:chOff x="0" y="0"/>
            <a:chExt cx="1964131" cy="5869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4182" cy="586994"/>
            </a:xfrm>
            <a:custGeom>
              <a:avLst/>
              <a:gdLst/>
              <a:ahLst/>
              <a:cxnLst/>
              <a:rect r="r" b="b" t="t" l="l"/>
              <a:pathLst>
                <a:path h="586994" w="1964182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1917827" y="0"/>
                  </a:lnTo>
                  <a:cubicBezTo>
                    <a:pt x="1943481" y="0"/>
                    <a:pt x="1964182" y="20701"/>
                    <a:pt x="1964182" y="46355"/>
                  </a:cubicBezTo>
                  <a:lnTo>
                    <a:pt x="1964182" y="540639"/>
                  </a:lnTo>
                  <a:cubicBezTo>
                    <a:pt x="1964182" y="566293"/>
                    <a:pt x="1943481" y="586994"/>
                    <a:pt x="1917827" y="586994"/>
                  </a:cubicBezTo>
                  <a:lnTo>
                    <a:pt x="46355" y="586994"/>
                  </a:lnTo>
                  <a:cubicBezTo>
                    <a:pt x="20701" y="586994"/>
                    <a:pt x="0" y="566166"/>
                    <a:pt x="0" y="54063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99" r="2" b="-15197"/>
              </a:stretch>
            </a:blipFill>
            <a:ln w="9526" cap="sq">
              <a:solidFill>
                <a:srgbClr val="E2C2B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506548" y="6337402"/>
            <a:ext cx="2037750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E2C2B3"/>
                </a:solidFill>
                <a:latin typeface="Noto Serif"/>
                <a:ea typeface="Noto Serif"/>
                <a:cs typeface="Noto Serif"/>
                <a:sym typeface="Noto Serif"/>
              </a:rPr>
              <a:t>JUNE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690681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Department of Computer Science and Engineering · Sardar Beant Singh State University, Gurdaspur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74354"/>
            <a:ext cx="9445523" cy="166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Growing Threat of Financial Fraud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731141"/>
            <a:ext cx="9445523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The rapid expansion of digital payments has transformed banking — but it has also opened new avenues for cybercrime. Financial institutions process millions of transactions daily, yet traditional rule-based detection systems cannot keep pace with evolving fraud patterns.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675584"/>
            <a:ext cx="4602213" cy="2688727"/>
            <a:chOff x="0" y="0"/>
            <a:chExt cx="6136284" cy="35849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36386" cy="3585083"/>
            </a:xfrm>
            <a:custGeom>
              <a:avLst/>
              <a:gdLst/>
              <a:ahLst/>
              <a:cxnLst/>
              <a:rect r="r" b="b" t="t" l="l"/>
              <a:pathLst>
                <a:path h="3585083" w="6136386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6084062" y="0"/>
                  </a:lnTo>
                  <a:cubicBezTo>
                    <a:pt x="6112891" y="0"/>
                    <a:pt x="6136386" y="23368"/>
                    <a:pt x="6136386" y="52324"/>
                  </a:cubicBezTo>
                  <a:lnTo>
                    <a:pt x="6136386" y="3532759"/>
                  </a:lnTo>
                  <a:cubicBezTo>
                    <a:pt x="6136386" y="3561588"/>
                    <a:pt x="6113018" y="3585083"/>
                    <a:pt x="6084062" y="3585083"/>
                  </a:cubicBezTo>
                  <a:lnTo>
                    <a:pt x="52324" y="3585083"/>
                  </a:lnTo>
                  <a:cubicBezTo>
                    <a:pt x="23495" y="3585083"/>
                    <a:pt x="0" y="3561715"/>
                    <a:pt x="0" y="3532759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3576" y="4917872"/>
            <a:ext cx="4079529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Scale of 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3576" y="5423002"/>
            <a:ext cx="4079529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Millions of daily transactions make manual monitoring impractical and costly.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5406" y="4675584"/>
            <a:ext cx="4602356" cy="2688727"/>
            <a:chOff x="0" y="0"/>
            <a:chExt cx="6136475" cy="35849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36513" cy="3585083"/>
            </a:xfrm>
            <a:custGeom>
              <a:avLst/>
              <a:gdLst/>
              <a:ahLst/>
              <a:cxnLst/>
              <a:rect r="r" b="b" t="t" l="l"/>
              <a:pathLst>
                <a:path h="3585083" w="6136513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6084189" y="0"/>
                  </a:lnTo>
                  <a:cubicBezTo>
                    <a:pt x="6113018" y="0"/>
                    <a:pt x="6136513" y="23368"/>
                    <a:pt x="6136513" y="52324"/>
                  </a:cubicBezTo>
                  <a:lnTo>
                    <a:pt x="6136513" y="3532759"/>
                  </a:lnTo>
                  <a:cubicBezTo>
                    <a:pt x="6136513" y="3561588"/>
                    <a:pt x="6113145" y="3585083"/>
                    <a:pt x="6084189" y="3585083"/>
                  </a:cubicBezTo>
                  <a:lnTo>
                    <a:pt x="52324" y="3585083"/>
                  </a:lnTo>
                  <a:cubicBezTo>
                    <a:pt x="23495" y="3585083"/>
                    <a:pt x="0" y="3561715"/>
                    <a:pt x="0" y="3532759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96743" y="4917872"/>
            <a:ext cx="4079672" cy="83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Limitations of Legacy Systems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96743" y="5831234"/>
            <a:ext cx="4079672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Static rules fail to detect complex fraud patterns hidden in large datasets.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7605265"/>
            <a:ext cx="9445523" cy="1878806"/>
            <a:chOff x="0" y="0"/>
            <a:chExt cx="12594031" cy="25050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082" cy="2505075"/>
            </a:xfrm>
            <a:custGeom>
              <a:avLst/>
              <a:gdLst/>
              <a:ahLst/>
              <a:cxnLst/>
              <a:rect r="r" b="b" t="t" l="l"/>
              <a:pathLst>
                <a:path h="2505075" w="12594082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2541758" y="0"/>
                  </a:lnTo>
                  <a:cubicBezTo>
                    <a:pt x="12570587" y="0"/>
                    <a:pt x="12594082" y="23368"/>
                    <a:pt x="12594082" y="52324"/>
                  </a:cubicBezTo>
                  <a:lnTo>
                    <a:pt x="12594082" y="2452751"/>
                  </a:lnTo>
                  <a:cubicBezTo>
                    <a:pt x="12594082" y="2481580"/>
                    <a:pt x="12570714" y="2505075"/>
                    <a:pt x="12541758" y="2505075"/>
                  </a:cubicBezTo>
                  <a:lnTo>
                    <a:pt x="52324" y="2505075"/>
                  </a:lnTo>
                  <a:cubicBezTo>
                    <a:pt x="23495" y="2505075"/>
                    <a:pt x="0" y="2481707"/>
                    <a:pt x="0" y="2452751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3576" y="7847562"/>
            <a:ext cx="8922839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Business Intelligence Opportunity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3576" y="8352682"/>
            <a:ext cx="8922839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Modern BI tools transform raw transaction data into real-time,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9266"/>
            <a:ext cx="16303523" cy="84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10530"/>
            <a:ext cx="16303523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This project develops an interactive Business Intelligence solution to analyse large-scale financial transaction data, detect fraud, and support data-driven decision-making through Microsoft Power BI.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281362"/>
            <a:ext cx="5268363" cy="3161700"/>
          </a:xfrm>
          <a:custGeom>
            <a:avLst/>
            <a:gdLst/>
            <a:ahLst/>
            <a:cxnLst/>
            <a:rect r="r" b="b" t="t" l="l"/>
            <a:pathLst>
              <a:path h="3161700" w="5268363">
                <a:moveTo>
                  <a:pt x="0" y="0"/>
                </a:moveTo>
                <a:lnTo>
                  <a:pt x="5268364" y="0"/>
                </a:lnTo>
                <a:lnTo>
                  <a:pt x="5268364" y="3161700"/>
                </a:lnTo>
                <a:lnTo>
                  <a:pt x="0" y="316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9" r="0" b="-7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66805" y="3480645"/>
            <a:ext cx="318935" cy="398707"/>
            <a:chOff x="0" y="0"/>
            <a:chExt cx="425247" cy="5316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5251" cy="531613"/>
            </a:xfrm>
            <a:custGeom>
              <a:avLst/>
              <a:gdLst/>
              <a:ahLst/>
              <a:cxnLst/>
              <a:rect r="r" b="b" t="t" l="l"/>
              <a:pathLst>
                <a:path h="531613" w="425251">
                  <a:moveTo>
                    <a:pt x="0" y="0"/>
                  </a:moveTo>
                  <a:lnTo>
                    <a:pt x="425251" y="0"/>
                  </a:lnTo>
                  <a:lnTo>
                    <a:pt x="425251" y="531613"/>
                  </a:lnTo>
                  <a:lnTo>
                    <a:pt x="0" y="5316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3" t="0" r="-11039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25247" cy="53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6618" y="4325541"/>
            <a:ext cx="4679604" cy="43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Analyse 1M+ Transactions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618" y="4842720"/>
            <a:ext cx="467960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Process the PaySim dataset efficiently using Power BI.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509737" y="3281362"/>
            <a:ext cx="5268363" cy="3161700"/>
          </a:xfrm>
          <a:custGeom>
            <a:avLst/>
            <a:gdLst/>
            <a:ahLst/>
            <a:cxnLst/>
            <a:rect r="r" b="b" t="t" l="l"/>
            <a:pathLst>
              <a:path h="3161700" w="5268363">
                <a:moveTo>
                  <a:pt x="0" y="0"/>
                </a:moveTo>
                <a:lnTo>
                  <a:pt x="5268364" y="0"/>
                </a:lnTo>
                <a:lnTo>
                  <a:pt x="5268364" y="3161700"/>
                </a:lnTo>
                <a:lnTo>
                  <a:pt x="0" y="316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9" r="0" b="-7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984304" y="3480645"/>
            <a:ext cx="318935" cy="398707"/>
            <a:chOff x="0" y="0"/>
            <a:chExt cx="425247" cy="5316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5251" cy="531613"/>
            </a:xfrm>
            <a:custGeom>
              <a:avLst/>
              <a:gdLst/>
              <a:ahLst/>
              <a:cxnLst/>
              <a:rect r="r" b="b" t="t" l="l"/>
              <a:pathLst>
                <a:path h="531613" w="425251">
                  <a:moveTo>
                    <a:pt x="0" y="0"/>
                  </a:moveTo>
                  <a:lnTo>
                    <a:pt x="425251" y="0"/>
                  </a:lnTo>
                  <a:lnTo>
                    <a:pt x="425251" y="531613"/>
                  </a:lnTo>
                  <a:lnTo>
                    <a:pt x="0" y="5316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3" t="0" r="-11039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25247" cy="53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804127" y="4325541"/>
            <a:ext cx="4679604" cy="43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Detect Fraudulent Activity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4127" y="4842720"/>
            <a:ext cx="467960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Identify suspicious patterns and high-risk transactions.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2027246" y="3281362"/>
            <a:ext cx="5268363" cy="3161700"/>
          </a:xfrm>
          <a:custGeom>
            <a:avLst/>
            <a:gdLst/>
            <a:ahLst/>
            <a:cxnLst/>
            <a:rect r="r" b="b" t="t" l="l"/>
            <a:pathLst>
              <a:path h="3161700" w="5268363">
                <a:moveTo>
                  <a:pt x="0" y="0"/>
                </a:moveTo>
                <a:lnTo>
                  <a:pt x="5268363" y="0"/>
                </a:lnTo>
                <a:lnTo>
                  <a:pt x="5268363" y="3161700"/>
                </a:lnTo>
                <a:lnTo>
                  <a:pt x="0" y="316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9" r="0" b="-7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501812" y="3480645"/>
            <a:ext cx="318935" cy="398707"/>
            <a:chOff x="0" y="0"/>
            <a:chExt cx="425247" cy="5316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5251" cy="531613"/>
            </a:xfrm>
            <a:custGeom>
              <a:avLst/>
              <a:gdLst/>
              <a:ahLst/>
              <a:cxnLst/>
              <a:rect r="r" b="b" t="t" l="l"/>
              <a:pathLst>
                <a:path h="531613" w="425251">
                  <a:moveTo>
                    <a:pt x="0" y="0"/>
                  </a:moveTo>
                  <a:lnTo>
                    <a:pt x="425251" y="0"/>
                  </a:lnTo>
                  <a:lnTo>
                    <a:pt x="425251" y="531613"/>
                  </a:lnTo>
                  <a:lnTo>
                    <a:pt x="0" y="5316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3" t="0" r="-11039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25247" cy="53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21626" y="4325541"/>
            <a:ext cx="4679604" cy="84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Build Interactive Dashboards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1626" y="5258095"/>
            <a:ext cx="467960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Visualise KPIs, trends, and fraud metrics dynamically.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92238" y="6692208"/>
            <a:ext cx="8027041" cy="2746324"/>
          </a:xfrm>
          <a:custGeom>
            <a:avLst/>
            <a:gdLst/>
            <a:ahLst/>
            <a:cxnLst/>
            <a:rect r="r" b="b" t="t" l="l"/>
            <a:pathLst>
              <a:path h="2746324" w="8027041">
                <a:moveTo>
                  <a:pt x="0" y="0"/>
                </a:moveTo>
                <a:lnTo>
                  <a:pt x="8027042" y="0"/>
                </a:lnTo>
                <a:lnTo>
                  <a:pt x="8027042" y="2746324"/>
                </a:lnTo>
                <a:lnTo>
                  <a:pt x="0" y="27463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0" r="0" b="-10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846139" y="6891490"/>
            <a:ext cx="318935" cy="398707"/>
            <a:chOff x="0" y="0"/>
            <a:chExt cx="425247" cy="5316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5251" cy="531613"/>
            </a:xfrm>
            <a:custGeom>
              <a:avLst/>
              <a:gdLst/>
              <a:ahLst/>
              <a:cxnLst/>
              <a:rect r="r" b="b" t="t" l="l"/>
              <a:pathLst>
                <a:path h="531613" w="425251">
                  <a:moveTo>
                    <a:pt x="0" y="0"/>
                  </a:moveTo>
                  <a:lnTo>
                    <a:pt x="425251" y="0"/>
                  </a:lnTo>
                  <a:lnTo>
                    <a:pt x="425251" y="531613"/>
                  </a:lnTo>
                  <a:lnTo>
                    <a:pt x="0" y="5316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3" t="0" r="-11039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25247" cy="53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86618" y="7736386"/>
            <a:ext cx="7438282" cy="43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Implement Star Schema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6618" y="8253565"/>
            <a:ext cx="7438282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Design an optimised data model for performance and scalability.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9268416" y="6692208"/>
            <a:ext cx="8027194" cy="2746324"/>
          </a:xfrm>
          <a:custGeom>
            <a:avLst/>
            <a:gdLst/>
            <a:ahLst/>
            <a:cxnLst/>
            <a:rect r="r" b="b" t="t" l="l"/>
            <a:pathLst>
              <a:path h="2746324" w="8027194">
                <a:moveTo>
                  <a:pt x="0" y="0"/>
                </a:moveTo>
                <a:lnTo>
                  <a:pt x="8027193" y="0"/>
                </a:lnTo>
                <a:lnTo>
                  <a:pt x="8027193" y="2746324"/>
                </a:lnTo>
                <a:lnTo>
                  <a:pt x="0" y="27463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1" r="0" b="-101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122478" y="6891490"/>
            <a:ext cx="318935" cy="398707"/>
            <a:chOff x="0" y="0"/>
            <a:chExt cx="425247" cy="5316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5251" cy="531613"/>
            </a:xfrm>
            <a:custGeom>
              <a:avLst/>
              <a:gdLst/>
              <a:ahLst/>
              <a:cxnLst/>
              <a:rect r="r" b="b" t="t" l="l"/>
              <a:pathLst>
                <a:path h="531613" w="425251">
                  <a:moveTo>
                    <a:pt x="0" y="0"/>
                  </a:moveTo>
                  <a:lnTo>
                    <a:pt x="425251" y="0"/>
                  </a:lnTo>
                  <a:lnTo>
                    <a:pt x="425251" y="531613"/>
                  </a:lnTo>
                  <a:lnTo>
                    <a:pt x="0" y="5316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3" t="0" r="-11039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25247" cy="53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5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562805" y="7736386"/>
            <a:ext cx="7438434" cy="43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Enable Future AI Integration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62805" y="8253565"/>
            <a:ext cx="743843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Create a scalable foundation for ML-based fraud prediction.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8669"/>
            <a:ext cx="16303523" cy="7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25523"/>
            <a:ext cx="16303523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 structured, end-to-end Data Analytics workflow was followed — from raw data acquisition through to final business reporting — ensuring accuracy, scalability, and reliability at every stage.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3280" y="2715520"/>
            <a:ext cx="15781287" cy="5921873"/>
            <a:chOff x="0" y="0"/>
            <a:chExt cx="21041716" cy="78958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04417" y="6961013"/>
            <a:ext cx="2380298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DAX Measures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04594" y="7190280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Star Schema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079" y="6961013"/>
            <a:ext cx="2380288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Transformation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3" y="6961013"/>
            <a:ext cx="2380288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Cleaning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830" y="6961013"/>
            <a:ext cx="2380288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Collection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801700"/>
            <a:ext cx="16303523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Each stage builds upon the previous, ensuring that raw PaySim transaction data is systematically transformed into meaningful business intelligence ready for executive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91931"/>
            <a:ext cx="16303523" cy="68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Tools &amp; Technologies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89402" y="2684707"/>
            <a:ext cx="5821261" cy="5821261"/>
            <a:chOff x="0" y="0"/>
            <a:chExt cx="7761681" cy="77616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761732" cy="7761732"/>
            </a:xfrm>
            <a:custGeom>
              <a:avLst/>
              <a:gdLst/>
              <a:ahLst/>
              <a:cxnLst/>
              <a:rect r="r" b="b" t="t" l="l"/>
              <a:pathLst>
                <a:path h="7761732" w="7761732">
                  <a:moveTo>
                    <a:pt x="0" y="0"/>
                  </a:moveTo>
                  <a:lnTo>
                    <a:pt x="7761732" y="0"/>
                  </a:lnTo>
                  <a:lnTo>
                    <a:pt x="7761732" y="7761732"/>
                  </a:lnTo>
                  <a:lnTo>
                    <a:pt x="0" y="776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31406" y="1989239"/>
            <a:ext cx="5378501" cy="7212216"/>
            <a:chOff x="0" y="0"/>
            <a:chExt cx="7171334" cy="9616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71309" cy="9616186"/>
            </a:xfrm>
            <a:custGeom>
              <a:avLst/>
              <a:gdLst/>
              <a:ahLst/>
              <a:cxnLst/>
              <a:rect r="r" b="b" t="t" l="l"/>
              <a:pathLst>
                <a:path h="9616186" w="7171309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128764" y="0"/>
                  </a:lnTo>
                  <a:cubicBezTo>
                    <a:pt x="7152259" y="0"/>
                    <a:pt x="7171309" y="19050"/>
                    <a:pt x="7171309" y="42545"/>
                  </a:cubicBezTo>
                  <a:lnTo>
                    <a:pt x="7171309" y="9573641"/>
                  </a:lnTo>
                  <a:cubicBezTo>
                    <a:pt x="7171309" y="9597136"/>
                    <a:pt x="7152259" y="9616186"/>
                    <a:pt x="7128764" y="9616186"/>
                  </a:cubicBezTo>
                  <a:lnTo>
                    <a:pt x="42545" y="9616186"/>
                  </a:lnTo>
                  <a:cubicBezTo>
                    <a:pt x="19050" y="9616186"/>
                    <a:pt x="0" y="9597136"/>
                    <a:pt x="0" y="9573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047" t="0" r="-122047" b="-1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936168" y="2516086"/>
            <a:ext cx="5368976" cy="13287"/>
            <a:chOff x="0" y="0"/>
            <a:chExt cx="7158634" cy="177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36168" y="3926386"/>
            <a:ext cx="5368976" cy="13287"/>
            <a:chOff x="0" y="0"/>
            <a:chExt cx="7158634" cy="177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36168" y="5039020"/>
            <a:ext cx="5368976" cy="13287"/>
            <a:chOff x="0" y="0"/>
            <a:chExt cx="7158634" cy="177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36168" y="6151664"/>
            <a:ext cx="5368976" cy="13287"/>
            <a:chOff x="0" y="0"/>
            <a:chExt cx="7158634" cy="177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936168" y="7264298"/>
            <a:ext cx="5368976" cy="13287"/>
            <a:chOff x="0" y="0"/>
            <a:chExt cx="7158634" cy="177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36168" y="8079286"/>
            <a:ext cx="5368976" cy="13287"/>
            <a:chOff x="0" y="0"/>
            <a:chExt cx="7158634" cy="177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8609" cy="17780"/>
            </a:xfrm>
            <a:custGeom>
              <a:avLst/>
              <a:gdLst/>
              <a:ahLst/>
              <a:cxnLst/>
              <a:rect r="r" b="b" t="t" l="l"/>
              <a:pathLst>
                <a:path h="17780" w="7158609">
                  <a:moveTo>
                    <a:pt x="0" y="0"/>
                  </a:moveTo>
                  <a:lnTo>
                    <a:pt x="7158609" y="0"/>
                  </a:lnTo>
                  <a:lnTo>
                    <a:pt x="7158609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58367" y="2080022"/>
            <a:ext cx="3164234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Tool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33254" y="2080022"/>
            <a:ext cx="3164234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Purpose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58367" y="2597353"/>
            <a:ext cx="2249834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Microsoft Power BI Desktop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33254" y="2597353"/>
            <a:ext cx="224983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Dashboard development, data modelling, KPI creation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58367" y="4007644"/>
            <a:ext cx="3164234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Power Query Editor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33254" y="4007644"/>
            <a:ext cx="2249834" cy="9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Data cleaning, transformation, and ETL operations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58367" y="5120288"/>
            <a:ext cx="2249834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DAX (Data Analysis Expressions)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33254" y="5120288"/>
            <a:ext cx="2249834" cy="9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Dynamic measures, KPIs, and analytical calculations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58367" y="6232922"/>
            <a:ext cx="3164234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PaySim Dataset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33254" y="6232922"/>
            <a:ext cx="2249834" cy="9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Primary dataset — 1,048,575 simulated transactions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58367" y="7345566"/>
            <a:ext cx="3164234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Microsoft Excel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33254" y="7345566"/>
            <a:ext cx="2249834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Initial data inspection and output validation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58367" y="8160544"/>
            <a:ext cx="2249834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Microsoft Word &amp; PowerPoint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33254" y="8160544"/>
            <a:ext cx="2249834" cy="9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Report documentation and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7631"/>
            <a:ext cx="16303523" cy="46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PaySim Dataset &amp; Data Preparation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673051"/>
            <a:ext cx="7973463" cy="23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sz="139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Dataset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986338"/>
            <a:ext cx="7973463" cy="53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3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The PaySim Financial Transaction Dataset simulates real-world mobile money transactions, containing </a:t>
            </a:r>
            <a:r>
              <a:rPr lang="en-US" sz="1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1,048,575 records</a:t>
            </a: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across 11 attributes — including transaction type, amount, customer and merchant IDs, account balances, and fraud labels.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602338"/>
            <a:ext cx="7973463" cy="562566"/>
            <a:chOff x="0" y="0"/>
            <a:chExt cx="10631284" cy="750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31170" cy="750062"/>
            </a:xfrm>
            <a:custGeom>
              <a:avLst/>
              <a:gdLst/>
              <a:ahLst/>
              <a:cxnLst/>
              <a:rect r="r" b="b" t="t" l="l"/>
              <a:pathLst>
                <a:path h="750062" w="10631170">
                  <a:moveTo>
                    <a:pt x="0" y="29210"/>
                  </a:moveTo>
                  <a:cubicBezTo>
                    <a:pt x="0" y="13081"/>
                    <a:pt x="13081" y="0"/>
                    <a:pt x="29210" y="0"/>
                  </a:cubicBezTo>
                  <a:lnTo>
                    <a:pt x="10601960" y="0"/>
                  </a:lnTo>
                  <a:cubicBezTo>
                    <a:pt x="10618089" y="0"/>
                    <a:pt x="10631170" y="13081"/>
                    <a:pt x="10631170" y="29210"/>
                  </a:cubicBezTo>
                  <a:lnTo>
                    <a:pt x="10631170" y="720852"/>
                  </a:lnTo>
                  <a:cubicBezTo>
                    <a:pt x="10631170" y="736981"/>
                    <a:pt x="10618089" y="750062"/>
                    <a:pt x="10601960" y="750062"/>
                  </a:cubicBezTo>
                  <a:lnTo>
                    <a:pt x="29210" y="750062"/>
                  </a:lnTo>
                  <a:cubicBezTo>
                    <a:pt x="13081" y="750062"/>
                    <a:pt x="0" y="736981"/>
                    <a:pt x="0" y="720852"/>
                  </a:cubicBezTo>
                  <a:close/>
                </a:path>
              </a:pathLst>
            </a:custGeom>
            <a:solidFill>
              <a:srgbClr val="5C352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8390" y="5799830"/>
            <a:ext cx="182613" cy="146152"/>
            <a:chOff x="0" y="0"/>
            <a:chExt cx="243484" cy="19486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43459" cy="194818"/>
            </a:xfrm>
            <a:custGeom>
              <a:avLst/>
              <a:gdLst/>
              <a:ahLst/>
              <a:cxnLst/>
              <a:rect r="r" b="b" t="t" l="l"/>
              <a:pathLst>
                <a:path h="194818" w="243459">
                  <a:moveTo>
                    <a:pt x="0" y="0"/>
                  </a:moveTo>
                  <a:lnTo>
                    <a:pt x="243459" y="0"/>
                  </a:lnTo>
                  <a:lnTo>
                    <a:pt x="243459" y="194818"/>
                  </a:lnTo>
                  <a:lnTo>
                    <a:pt x="0" y="194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31" b="-2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67145" y="5706513"/>
            <a:ext cx="7352405" cy="35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3"/>
              </a:lnSpc>
            </a:pPr>
            <a:r>
              <a:rPr lang="en-US" sz="1100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Transaction types include CASH_IN, CASH_OUT, TRANSFER, PAYMENT, and DEBIT — enabling rich comparative analysis.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31823" y="1441694"/>
            <a:ext cx="7973463" cy="7973463"/>
            <a:chOff x="0" y="0"/>
            <a:chExt cx="10631284" cy="10631284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631297" cy="10631297"/>
            </a:xfrm>
            <a:custGeom>
              <a:avLst/>
              <a:gdLst/>
              <a:ahLst/>
              <a:cxnLst/>
              <a:rect r="r" b="b" t="t" l="l"/>
              <a:pathLst>
                <a:path h="10631297" w="10631297">
                  <a:moveTo>
                    <a:pt x="0" y="0"/>
                  </a:moveTo>
                  <a:lnTo>
                    <a:pt x="10631297" y="0"/>
                  </a:lnTo>
                  <a:lnTo>
                    <a:pt x="10631297" y="10631297"/>
                  </a:lnTo>
                  <a:lnTo>
                    <a:pt x="0" y="10631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0657"/>
            <a:ext cx="163035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Star Schema Data Model &amp; DAX Measures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981127"/>
            <a:ext cx="7978826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Star Schema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292481"/>
            <a:ext cx="7978826" cy="51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 central </a:t>
            </a:r>
            <a:r>
              <a:rPr lang="en-US" sz="1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Fact Transaction</a:t>
            </a: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table stores all measurable transaction data, connected to dimension tables for Customer, Merchant, Time, Transaction Type, and Risk Level. This structure minimises redundancy and accelerates query performance.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26461" y="1408509"/>
            <a:ext cx="7978826" cy="7978826"/>
            <a:chOff x="0" y="0"/>
            <a:chExt cx="10638434" cy="1063843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9546584"/>
            <a:ext cx="8116338" cy="717356"/>
            <a:chOff x="0" y="0"/>
            <a:chExt cx="10821784" cy="956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21797" cy="956437"/>
            </a:xfrm>
            <a:custGeom>
              <a:avLst/>
              <a:gdLst/>
              <a:ahLst/>
              <a:cxnLst/>
              <a:rect r="r" b="b" t="t" l="l"/>
              <a:pathLst>
                <a:path h="956437" w="10821797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0793476" y="0"/>
                  </a:lnTo>
                  <a:cubicBezTo>
                    <a:pt x="10809097" y="0"/>
                    <a:pt x="10821797" y="12700"/>
                    <a:pt x="10821797" y="28321"/>
                  </a:cubicBezTo>
                  <a:lnTo>
                    <a:pt x="10821797" y="928116"/>
                  </a:lnTo>
                  <a:cubicBezTo>
                    <a:pt x="10821797" y="943737"/>
                    <a:pt x="10809097" y="956437"/>
                    <a:pt x="10793476" y="956437"/>
                  </a:cubicBezTo>
                  <a:lnTo>
                    <a:pt x="28321" y="956437"/>
                  </a:lnTo>
                  <a:cubicBezTo>
                    <a:pt x="12700" y="956437"/>
                    <a:pt x="0" y="943737"/>
                    <a:pt x="0" y="928116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33923" y="9669218"/>
            <a:ext cx="7832969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Fraud Rate (%)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923" y="9952139"/>
            <a:ext cx="7832969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Percentage of fraudulent transactions vs. total volume.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79423" y="9546584"/>
            <a:ext cx="8116338" cy="717356"/>
            <a:chOff x="0" y="0"/>
            <a:chExt cx="10821784" cy="95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21797" cy="956437"/>
            </a:xfrm>
            <a:custGeom>
              <a:avLst/>
              <a:gdLst/>
              <a:ahLst/>
              <a:cxnLst/>
              <a:rect r="r" b="b" t="t" l="l"/>
              <a:pathLst>
                <a:path h="956437" w="10821797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0793476" y="0"/>
                  </a:lnTo>
                  <a:cubicBezTo>
                    <a:pt x="10809097" y="0"/>
                    <a:pt x="10821797" y="12700"/>
                    <a:pt x="10821797" y="28321"/>
                  </a:cubicBezTo>
                  <a:lnTo>
                    <a:pt x="10821797" y="928116"/>
                  </a:lnTo>
                  <a:cubicBezTo>
                    <a:pt x="10821797" y="943737"/>
                    <a:pt x="10809097" y="956437"/>
                    <a:pt x="10793476" y="956437"/>
                  </a:cubicBezTo>
                  <a:lnTo>
                    <a:pt x="28321" y="956437"/>
                  </a:lnTo>
                  <a:cubicBezTo>
                    <a:pt x="12700" y="956437"/>
                    <a:pt x="0" y="943737"/>
                    <a:pt x="0" y="928116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21108" y="9669218"/>
            <a:ext cx="7832969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Success Rate (%)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9952139"/>
            <a:ext cx="7832969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Proportion of genuine, successfully completed transactions.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10334777"/>
            <a:ext cx="8116338" cy="717356"/>
            <a:chOff x="0" y="0"/>
            <a:chExt cx="10821784" cy="9564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21797" cy="956437"/>
            </a:xfrm>
            <a:custGeom>
              <a:avLst/>
              <a:gdLst/>
              <a:ahLst/>
              <a:cxnLst/>
              <a:rect r="r" b="b" t="t" l="l"/>
              <a:pathLst>
                <a:path h="956437" w="10821797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0793476" y="0"/>
                  </a:lnTo>
                  <a:cubicBezTo>
                    <a:pt x="10809097" y="0"/>
                    <a:pt x="10821797" y="12700"/>
                    <a:pt x="10821797" y="28321"/>
                  </a:cubicBezTo>
                  <a:lnTo>
                    <a:pt x="10821797" y="928116"/>
                  </a:lnTo>
                  <a:cubicBezTo>
                    <a:pt x="10821797" y="943737"/>
                    <a:pt x="10809097" y="956437"/>
                    <a:pt x="10793476" y="956437"/>
                  </a:cubicBezTo>
                  <a:lnTo>
                    <a:pt x="28321" y="956437"/>
                  </a:lnTo>
                  <a:cubicBezTo>
                    <a:pt x="12700" y="956437"/>
                    <a:pt x="0" y="943737"/>
                    <a:pt x="0" y="928116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33923" y="10457412"/>
            <a:ext cx="7832969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High-Risk 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3923" y="10740333"/>
            <a:ext cx="7832969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Customers associated with suspicious or fraudulent activity.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79423" y="10334777"/>
            <a:ext cx="8116338" cy="717356"/>
            <a:chOff x="0" y="0"/>
            <a:chExt cx="10821784" cy="9564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21797" cy="956437"/>
            </a:xfrm>
            <a:custGeom>
              <a:avLst/>
              <a:gdLst/>
              <a:ahLst/>
              <a:cxnLst/>
              <a:rect r="r" b="b" t="t" l="l"/>
              <a:pathLst>
                <a:path h="956437" w="10821797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0793476" y="0"/>
                  </a:lnTo>
                  <a:cubicBezTo>
                    <a:pt x="10809097" y="0"/>
                    <a:pt x="10821797" y="12700"/>
                    <a:pt x="10821797" y="28321"/>
                  </a:cubicBezTo>
                  <a:lnTo>
                    <a:pt x="10821797" y="928116"/>
                  </a:lnTo>
                  <a:cubicBezTo>
                    <a:pt x="10821797" y="943737"/>
                    <a:pt x="10809097" y="956437"/>
                    <a:pt x="10793476" y="956437"/>
                  </a:cubicBezTo>
                  <a:lnTo>
                    <a:pt x="28321" y="956437"/>
                  </a:lnTo>
                  <a:cubicBezTo>
                    <a:pt x="12700" y="956437"/>
                    <a:pt x="0" y="943737"/>
                    <a:pt x="0" y="928116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21108" y="10457412"/>
            <a:ext cx="7832969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Fraud Merchant Count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1108" y="10740333"/>
            <a:ext cx="7832969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Merchants linked to fraudulent 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26994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Three Interactive Dashboards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099044"/>
            <a:ext cx="3014958" cy="1863328"/>
            <a:chOff x="0" y="0"/>
            <a:chExt cx="4019944" cy="24844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5297691"/>
            <a:ext cx="519826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Executive Fraud Intelligence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286948"/>
            <a:ext cx="519826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High-level KPIs — Total Transactions, Fraud Rate, Success Rate — with fraud distribution charts and trend analysis for senior management.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099044"/>
            <a:ext cx="3014958" cy="1863328"/>
            <a:chOff x="0" y="0"/>
            <a:chExt cx="4019944" cy="248443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" r="0" b="-2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4866" y="5297691"/>
            <a:ext cx="519826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Transaction Analytics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6286948"/>
            <a:ext cx="5198269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Detailed breakdown of transaction volumes by type (CASH_IN, TRANSFER, PAYMENT), average amounts, and time-based trend analysis.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099044"/>
            <a:ext cx="3014958" cy="1863328"/>
            <a:chOff x="0" y="0"/>
            <a:chExt cx="4019944" cy="248443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" r="0" b="-2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97493" y="5297691"/>
            <a:ext cx="5198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Fraud Behaviour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5844035"/>
            <a:ext cx="519826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Focused fraud analysis — high-risk customers, fraud-involved merchants, transaction-type vulnerability, and emerging fraud patterns.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028252"/>
            <a:ext cx="9445523" cy="73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Key Business Insights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2047875"/>
            <a:ext cx="9445523" cy="1657645"/>
          </a:xfrm>
          <a:custGeom>
            <a:avLst/>
            <a:gdLst/>
            <a:ahLst/>
            <a:cxnLst/>
            <a:rect r="r" b="b" t="t" l="l"/>
            <a:pathLst>
              <a:path h="1657645" w="9445523">
                <a:moveTo>
                  <a:pt x="0" y="0"/>
                </a:moveTo>
                <a:lnTo>
                  <a:pt x="9445524" y="0"/>
                </a:lnTo>
                <a:lnTo>
                  <a:pt x="9445524" y="1657645"/>
                </a:lnTo>
                <a:lnTo>
                  <a:pt x="0" y="1657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5352" y="2297163"/>
            <a:ext cx="8813606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Low Fraud Rate, High Financial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5352" y="2740666"/>
            <a:ext cx="8813606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Fraudulent transactions are a small percentage of total volume, yet each carries significant financial consequence — continuous monitoring remains essential.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3892601"/>
            <a:ext cx="9445523" cy="1657645"/>
          </a:xfrm>
          <a:custGeom>
            <a:avLst/>
            <a:gdLst/>
            <a:ahLst/>
            <a:cxnLst/>
            <a:rect r="r" b="b" t="t" l="l"/>
            <a:pathLst>
              <a:path h="1657645" w="9445523">
                <a:moveTo>
                  <a:pt x="0" y="0"/>
                </a:moveTo>
                <a:lnTo>
                  <a:pt x="9445524" y="0"/>
                </a:lnTo>
                <a:lnTo>
                  <a:pt x="9445524" y="1657645"/>
                </a:lnTo>
                <a:lnTo>
                  <a:pt x="0" y="1657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5352" y="4141889"/>
            <a:ext cx="8813606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Fraud Concentrates in Specific Transaction Types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5352" y="4585392"/>
            <a:ext cx="8813606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Certain categories are disproportionately targeted, indicating the need for stricter verification on high-risk transaction types.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5737327"/>
            <a:ext cx="9445523" cy="1657645"/>
          </a:xfrm>
          <a:custGeom>
            <a:avLst/>
            <a:gdLst/>
            <a:ahLst/>
            <a:cxnLst/>
            <a:rect r="r" b="b" t="t" l="l"/>
            <a:pathLst>
              <a:path h="1657645" w="9445523">
                <a:moveTo>
                  <a:pt x="0" y="0"/>
                </a:moveTo>
                <a:lnTo>
                  <a:pt x="9445524" y="0"/>
                </a:lnTo>
                <a:lnTo>
                  <a:pt x="9445524" y="1657645"/>
                </a:lnTo>
                <a:lnTo>
                  <a:pt x="0" y="1657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65352" y="5986615"/>
            <a:ext cx="8813606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Merchant-Level Monitoring Strengthens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5352" y="6430118"/>
            <a:ext cx="8813606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Only a limited number of merchants are linked to fraud — targeted merchant analytics enables early identification of suspicious entities.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582052"/>
            <a:ext cx="9445523" cy="1657645"/>
          </a:xfrm>
          <a:custGeom>
            <a:avLst/>
            <a:gdLst/>
            <a:ahLst/>
            <a:cxnLst/>
            <a:rect r="r" b="b" t="t" l="l"/>
            <a:pathLst>
              <a:path h="1657645" w="9445523">
                <a:moveTo>
                  <a:pt x="0" y="0"/>
                </a:moveTo>
                <a:lnTo>
                  <a:pt x="9445524" y="0"/>
                </a:lnTo>
                <a:lnTo>
                  <a:pt x="9445524" y="1657646"/>
                </a:lnTo>
                <a:lnTo>
                  <a:pt x="0" y="1657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65352" y="7831331"/>
            <a:ext cx="8813606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Interactive Dashboards Accelerate Decision-Making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5352" y="8274844"/>
            <a:ext cx="8813606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Dynamic KPIs and filters provide real-time business intelligence, eliminating manual report preparation and reducing analysis time.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1048"/>
            <a:ext cx="16303523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Conclusion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1318" y="2303859"/>
            <a:ext cx="8213227" cy="6963366"/>
            <a:chOff x="0" y="0"/>
            <a:chExt cx="10950969" cy="92844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0956" cy="9284462"/>
            </a:xfrm>
            <a:custGeom>
              <a:avLst/>
              <a:gdLst/>
              <a:ahLst/>
              <a:cxnLst/>
              <a:rect r="r" b="b" t="t" l="l"/>
              <a:pathLst>
                <a:path h="9284462" w="10950956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10895203" y="0"/>
                  </a:lnTo>
                  <a:cubicBezTo>
                    <a:pt x="10926064" y="0"/>
                    <a:pt x="10950956" y="25019"/>
                    <a:pt x="10950956" y="55753"/>
                  </a:cubicBezTo>
                  <a:lnTo>
                    <a:pt x="10950956" y="9228709"/>
                  </a:lnTo>
                  <a:cubicBezTo>
                    <a:pt x="10950956" y="9259570"/>
                    <a:pt x="10925937" y="9284462"/>
                    <a:pt x="10895203" y="9284462"/>
                  </a:cubicBezTo>
                  <a:lnTo>
                    <a:pt x="55753" y="9284462"/>
                  </a:lnTo>
                  <a:cubicBezTo>
                    <a:pt x="24892" y="9284462"/>
                    <a:pt x="0" y="9259443"/>
                    <a:pt x="0" y="9228709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0372" y="2559548"/>
            <a:ext cx="7655128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0372" y="3213202"/>
            <a:ext cx="7655128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This project demonstrates that Business Intelligence tools — specifically Microsoft Power BI — can effectively transform over one million financial transaction records into actionable fraud intelligence. Three interactive dashboards deliver real-time insights into transaction performance, fraud trends, and risk patterns, significantly reducing manual reporting effort while improving decision-making accuracy.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3891" y="2559548"/>
            <a:ext cx="7811395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Enhancements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598523" y="3337398"/>
            <a:ext cx="418652" cy="418652"/>
          </a:xfrm>
          <a:custGeom>
            <a:avLst/>
            <a:gdLst/>
            <a:ahLst/>
            <a:cxnLst/>
            <a:rect r="r" b="b" t="t" l="l"/>
            <a:pathLst>
              <a:path h="418652" w="418652">
                <a:moveTo>
                  <a:pt x="0" y="0"/>
                </a:moveTo>
                <a:lnTo>
                  <a:pt x="418653" y="0"/>
                </a:lnTo>
                <a:lnTo>
                  <a:pt x="418653" y="418652"/>
                </a:lnTo>
                <a:lnTo>
                  <a:pt x="0" y="418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091" t="0" r="-909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00852" y="3247434"/>
            <a:ext cx="6904434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Machine Learning Integration</a:t>
            </a:r>
            <a:r>
              <a:rPr lang="en-US" sz="2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— Predictive models (Random Forest, XGBoost) for proactive fraud prevention.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598523" y="5215604"/>
            <a:ext cx="418652" cy="418652"/>
          </a:xfrm>
          <a:custGeom>
            <a:avLst/>
            <a:gdLst/>
            <a:ahLst/>
            <a:cxnLst/>
            <a:rect r="r" b="b" t="t" l="l"/>
            <a:pathLst>
              <a:path h="418652" w="418652">
                <a:moveTo>
                  <a:pt x="0" y="0"/>
                </a:moveTo>
                <a:lnTo>
                  <a:pt x="418653" y="0"/>
                </a:lnTo>
                <a:lnTo>
                  <a:pt x="418653" y="418653"/>
                </a:lnTo>
                <a:lnTo>
                  <a:pt x="0" y="4186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091" t="0" r="-909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00852" y="5125641"/>
            <a:ext cx="690443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Real-Time Monitoring</a:t>
            </a:r>
            <a:r>
              <a:rPr lang="en-US" sz="2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— Live data streaming via Power BI Service and Azure for instant fraud alerts.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598523" y="6650907"/>
            <a:ext cx="418652" cy="418652"/>
          </a:xfrm>
          <a:custGeom>
            <a:avLst/>
            <a:gdLst/>
            <a:ahLst/>
            <a:cxnLst/>
            <a:rect r="r" b="b" t="t" l="l"/>
            <a:pathLst>
              <a:path h="418652" w="418652">
                <a:moveTo>
                  <a:pt x="0" y="0"/>
                </a:moveTo>
                <a:lnTo>
                  <a:pt x="418653" y="0"/>
                </a:lnTo>
                <a:lnTo>
                  <a:pt x="418653" y="418653"/>
                </a:lnTo>
                <a:lnTo>
                  <a:pt x="0" y="4186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091" t="0" r="-909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00852" y="6560944"/>
            <a:ext cx="690443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AI-Powered Anomaly Detection</a:t>
            </a:r>
            <a:r>
              <a:rPr lang="en-US" sz="2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— Automated risk scoring for customers and merchants.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598523" y="8086201"/>
            <a:ext cx="418652" cy="418652"/>
          </a:xfrm>
          <a:custGeom>
            <a:avLst/>
            <a:gdLst/>
            <a:ahLst/>
            <a:cxnLst/>
            <a:rect r="r" b="b" t="t" l="l"/>
            <a:pathLst>
              <a:path h="418652" w="418652">
                <a:moveTo>
                  <a:pt x="0" y="0"/>
                </a:moveTo>
                <a:lnTo>
                  <a:pt x="418653" y="0"/>
                </a:lnTo>
                <a:lnTo>
                  <a:pt x="418653" y="418652"/>
                </a:lnTo>
                <a:lnTo>
                  <a:pt x="0" y="418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091" t="0" r="-909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00852" y="7996238"/>
            <a:ext cx="690443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Enriched Data Sources</a:t>
            </a:r>
            <a:r>
              <a:rPr lang="en-US" sz="21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— Integration of customer demographics, geolocation, and device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DAHQMUzmHSo</dc:identifier>
  <dcterms:modified xsi:type="dcterms:W3CDTF">2011-08-01T06:04:30Z</dcterms:modified>
  <cp:revision>1</cp:revision>
  <dc:title>Enterprise-Credit-Card-Fraud-Intelligence-and-Risk-Analytics.pptx</dc:title>
</cp:coreProperties>
</file>